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75" r:id="rId4"/>
    <p:sldId id="276" r:id="rId5"/>
    <p:sldId id="277" r:id="rId6"/>
    <p:sldId id="281" r:id="rId7"/>
    <p:sldId id="282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4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230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863840" y="1097280"/>
            <a:ext cx="914400" cy="914400"/>
          </a:xfrm>
          <a:prstGeom prst="ellipse">
            <a:avLst/>
          </a:prstGeom>
          <a:ln w="17780">
            <a:solidFill>
              <a:srgbClr val="1C7293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920" y="594360"/>
            <a:ext cx="1920240" cy="1920240"/>
          </a:xfrm>
          <a:prstGeom prst="ellipse">
            <a:avLst/>
          </a:prstGeom>
          <a:ln w="17780">
            <a:solidFill>
              <a:srgbClr val="1C7293">
                <a:alpha val="6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-411480"/>
            <a:ext cx="3931920" cy="3931920"/>
          </a:xfrm>
          <a:prstGeom prst="ellipse">
            <a:avLst/>
          </a:prstGeom>
          <a:ln w="17780">
            <a:solidFill>
              <a:srgbClr val="1C7293">
                <a:alpha val="44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9189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KZ" sz="2800" b="1" dirty="0">
                <a:solidFill>
                  <a:schemeClr val="bg1"/>
                </a:solidFill>
              </a:rPr>
              <a:t>Lecture: </a:t>
            </a:r>
          </a:p>
          <a:p>
            <a:r>
              <a:rPr lang="ru-KZ" sz="2800" b="1" dirty="0">
                <a:solidFill>
                  <a:schemeClr val="bg1"/>
                </a:solidFill>
              </a:rPr>
              <a:t>Operating Systems Architecture from a Developer's Perspective</a:t>
            </a:r>
            <a:endParaRPr lang="ru-KZ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Device Connectivity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" y="3412996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Computer Networks  (OSiKS 2302)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" y="3749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KZ" dirty="0"/>
          </a:p>
        </p:txBody>
      </p:sp>
      <p:sp>
        <p:nvSpPr>
          <p:cNvPr id="11" name="Text 9"/>
          <p:cNvSpPr/>
          <p:nvPr/>
        </p:nvSpPr>
        <p:spPr>
          <a:xfrm>
            <a:off x="623125" y="4478276"/>
            <a:ext cx="8467631" cy="1463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duration: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academic hours (80 min net teaching)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2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Cybersecurity, Astana IT University</a:t>
            </a:r>
            <a:endParaRPr lang="ru-RU" sz="2400" dirty="0">
              <a:solidFill>
                <a:srgbClr val="9AA7B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assistant professor: Zholdangarova Gulnar </a:t>
            </a:r>
            <a:r>
              <a:rPr lang="en-US" sz="2400" dirty="0" err="1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Igibaevna</a:t>
            </a:r>
            <a:endParaRPr lang="en-US" sz="2400" dirty="0">
              <a:solidFill>
                <a:srgbClr val="9AA7B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zholdangarova9443@gmail.com</a:t>
            </a:r>
            <a:endParaRPr lang="ru-RU" sz="2400" dirty="0">
              <a:solidFill>
                <a:srgbClr val="9AA7B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CB8FC8-9C70-94BD-6ECA-60ECC3C9E997}"/>
              </a:ext>
            </a:extLst>
          </p:cNvPr>
          <p:cNvSpPr txBox="1"/>
          <p:nvPr/>
        </p:nvSpPr>
        <p:spPr>
          <a:xfrm>
            <a:off x="335666" y="1074509"/>
            <a:ext cx="1177455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ID65535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«Operating Systems»</a:t>
            </a:r>
          </a:p>
          <a:p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OS as an Abstraction Layer</a:t>
            </a:r>
            <a:endParaRPr lang="LID65535" sz="2400" dirty="0">
              <a:solidFill>
                <a:schemeClr val="accent1">
                  <a:lumMod val="5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LID65535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 programmer, an </a:t>
            </a:r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(OS)</a:t>
            </a:r>
            <a:r>
              <a:rPr lang="LID65535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massive abstraction engine. High-level code (Python, Java, C++) </a:t>
            </a:r>
            <a:r>
              <a:rPr lang="LID65535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LID65535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Instead, the OS abstracts complex hardware components into clean, manageable software concepts:</a:t>
            </a:r>
          </a:p>
          <a:p>
            <a:endParaRPr lang="LID65535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CPU Cores are abstracted into Threads and Processes. </a:t>
            </a:r>
          </a:p>
          <a:p>
            <a:pPr lvl="0"/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Volatile RAM Sticks &amp; Storage Blocks are abstracted into a unified Virtual Memory space and File Systems. </a:t>
            </a:r>
          </a:p>
          <a:p>
            <a:pPr lvl="0"/>
            <a:r>
              <a:rPr lang="LID65535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Interface Cards (NICs) are abstracted into Sockets. </a:t>
            </a:r>
          </a:p>
          <a:p>
            <a:endParaRPr lang="LID65535" dirty="0"/>
          </a:p>
          <a:p>
            <a:endParaRPr lang="LID65535" dirty="0"/>
          </a:p>
        </p:txBody>
      </p:sp>
    </p:spTree>
    <p:extLst>
      <p:ext uri="{BB962C8B-B14F-4D97-AF65-F5344CB8AC3E}">
        <p14:creationId xmlns:p14="http://schemas.microsoft.com/office/powerpoint/2010/main" val="2673345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351FF-2E0B-6731-22FA-F8E21F0FB967}"/>
              </a:ext>
            </a:extLst>
          </p:cNvPr>
          <p:cNvSpPr txBox="1"/>
          <p:nvPr/>
        </p:nvSpPr>
        <p:spPr>
          <a:xfrm>
            <a:off x="502786" y="1012954"/>
            <a:ext cx="1083577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KZ" sz="2400" b="1" kern="10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Core Concepts Every Developer Must Know</a:t>
            </a:r>
            <a:endParaRPr lang="ru-KZ" sz="2400" kern="100" dirty="0">
              <a:solidFill>
                <a:schemeClr val="accent1">
                  <a:lumMod val="50000"/>
                </a:schemeClr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KZ" sz="24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 vs. Thread</a:t>
            </a:r>
            <a:endParaRPr lang="ru-KZ" sz="2400" kern="1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ru-KZ" sz="2400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Understanding the concurrency model of an OS is vital for writing scalable backend or desktop applications: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ru-KZ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Process: </a:t>
            </a:r>
            <a:r>
              <a:rPr lang="ru-KZ" sz="24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isolated executing program with its own dedicated memory space (Heap, Stack, File Descriptors). Processes do not share memory by default; they communicate via IPC (Inter-Process Communication) like pipes, sockets, or shared memory. 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  <a:tab pos="457200" algn="l"/>
              </a:tabLst>
            </a:pPr>
            <a:r>
              <a:rPr lang="ru-KZ" sz="2400" b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Thread: </a:t>
            </a:r>
            <a:r>
              <a:rPr lang="ru-KZ" sz="24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smallest unit of execution inside a process. Multiple threads share the </a:t>
            </a:r>
            <a:r>
              <a:rPr lang="ru-KZ" sz="2400" i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KZ" sz="24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process memory space but have their own execution stacks. </a:t>
            </a:r>
            <a:r>
              <a:rPr lang="ru-KZ" sz="2400" i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Developer Takeaway: Thread switching is fast, but shared memory introduces race conditions and requires synchronization primitives (Mutexes, Semaphores).</a:t>
            </a:r>
            <a:r>
              <a:rPr lang="ru-KZ" sz="2400" i="1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KZ" sz="24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97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4FCFB0-CF8E-0926-4571-93EF304C0805}"/>
              </a:ext>
            </a:extLst>
          </p:cNvPr>
          <p:cNvSpPr txBox="1"/>
          <p:nvPr/>
        </p:nvSpPr>
        <p:spPr>
          <a:xfrm>
            <a:off x="524540" y="864389"/>
            <a:ext cx="1114292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KZ" sz="2800" b="1" dirty="0">
                <a:solidFill>
                  <a:schemeClr val="accent1">
                    <a:lumMod val="5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3. Low-Level Memory Management</a:t>
            </a:r>
            <a:endParaRPr lang="ru-KZ" sz="2800" dirty="0">
              <a:solidFill>
                <a:schemeClr val="accent1">
                  <a:lumMod val="50000"/>
                </a:schemeClr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KZ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operate in Virtual Memory, not physical RAM.</a:t>
            </a:r>
          </a:p>
          <a:p>
            <a:pPr lvl="0"/>
            <a:r>
              <a:rPr lang="ru-KZ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 Space: The OS gives every single process the illusion that it owns the entire address space of the computer. </a:t>
            </a:r>
          </a:p>
          <a:p>
            <a:pPr lvl="0"/>
            <a:r>
              <a:rPr lang="ru-KZ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Paging: </a:t>
            </a:r>
            <a:r>
              <a:rPr lang="ru-KZ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OS splits memory into small chunks (usually 4KB) called Pages. The MMU (Memory Management Unit) maps virtual pages to physical RAM frames using Page Tables. </a:t>
            </a:r>
          </a:p>
          <a:p>
            <a:pPr lvl="0"/>
            <a:r>
              <a:rPr lang="ru-KZ" sz="28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Protection: </a:t>
            </a:r>
            <a:r>
              <a:rPr lang="ru-KZ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your pointer tries to read an address outside of your allocated pages, the MMU triggers a hardware exception, and the OS kills your app with a Segmentation Fault (SegFault) or an Access Violation error. 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214650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231827D9-FC33-9013-D976-2FDECF43C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36818"/>
              </p:ext>
            </p:extLst>
          </p:nvPr>
        </p:nvGraphicFramePr>
        <p:xfrm>
          <a:off x="525966" y="1299224"/>
          <a:ext cx="11140068" cy="5228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3356">
                  <a:extLst>
                    <a:ext uri="{9D8B030D-6E8A-4147-A177-3AD203B41FA5}">
                      <a16:colId xmlns:a16="http://schemas.microsoft.com/office/drawing/2014/main" val="3475835934"/>
                    </a:ext>
                  </a:extLst>
                </a:gridCol>
                <a:gridCol w="3713356">
                  <a:extLst>
                    <a:ext uri="{9D8B030D-6E8A-4147-A177-3AD203B41FA5}">
                      <a16:colId xmlns:a16="http://schemas.microsoft.com/office/drawing/2014/main" val="896935745"/>
                    </a:ext>
                  </a:extLst>
                </a:gridCol>
                <a:gridCol w="3713356">
                  <a:extLst>
                    <a:ext uri="{9D8B030D-6E8A-4147-A177-3AD203B41FA5}">
                      <a16:colId xmlns:a16="http://schemas.microsoft.com/office/drawing/2014/main" val="2381828880"/>
                    </a:ext>
                  </a:extLst>
                </a:gridCol>
              </a:tblGrid>
              <a:tr h="71227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Device Type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Popular OS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Key Features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1030356"/>
                  </a:ext>
                </a:extLst>
              </a:tr>
              <a:tr h="13892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Desktop (PCs and Laptops)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Windows, macOS, Linux (Ubuntu, Mint)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Tailored for large screens, keyboards, and mice. Support complex multitasking.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8754598"/>
                  </a:ext>
                </a:extLst>
              </a:tr>
              <a:tr h="13892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Mobile (Smartphones, Tablets)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Android, iOS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Optimized for touchscreens, low energy consumption, and wireless networks.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9461931"/>
                  </a:ext>
                </a:extLst>
              </a:tr>
              <a:tr h="173740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>
                          <a:effectLst/>
                        </a:rPr>
                        <a:t>Server</a:t>
                      </a:r>
                      <a:endParaRPr lang="ru-KZ" sz="2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>
                          <a:effectLst/>
                        </a:rPr>
                        <a:t>Linux (Ubuntu Server, Debian, Red Hat), Windows Server</a:t>
                      </a:r>
                      <a:endParaRPr lang="ru-KZ" sz="24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ru-KZ" sz="2400" kern="100" dirty="0">
                          <a:effectLst/>
                        </a:rPr>
                        <a:t>Operate without a graphical interface. Maximum stability, built for managing databases and websites.</a:t>
                      </a:r>
                      <a:endParaRPr lang="ru-KZ" sz="24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400405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124438-6A1C-B0D9-2766-D2B699FA619A}"/>
              </a:ext>
            </a:extLst>
          </p:cNvPr>
          <p:cNvSpPr txBox="1"/>
          <p:nvPr/>
        </p:nvSpPr>
        <p:spPr>
          <a:xfrm>
            <a:off x="144966" y="191228"/>
            <a:ext cx="1114006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ea typeface="Times New Roman" panose="02020603050405020304" pitchFamily="18" charset="0"/>
              </a:rPr>
              <a:t>4 </a:t>
            </a:r>
            <a:r>
              <a:rPr lang="ru-KZ" sz="2400" b="1" dirty="0">
                <a:solidFill>
                  <a:schemeClr val="accent1">
                    <a:lumMod val="50000"/>
                  </a:schemeClr>
                </a:solidFill>
                <a:ea typeface="Times New Roman" panose="02020603050405020304" pitchFamily="18" charset="0"/>
              </a:rPr>
              <a:t>Classification and Examples of Modern OS</a:t>
            </a:r>
            <a:endParaRPr lang="ru-KZ" sz="2400" dirty="0">
              <a:solidFill>
                <a:schemeClr val="accent1">
                  <a:lumMod val="50000"/>
                </a:schemeClr>
              </a:solidFill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KZ" sz="2400" dirty="0">
                <a:solidFill>
                  <a:schemeClr val="accent1">
                    <a:lumMod val="50000"/>
                  </a:schemeClr>
                </a:solidFill>
                <a:ea typeface="Times New Roman" panose="02020603050405020304" pitchFamily="18" charset="0"/>
              </a:rPr>
              <a:t>Operating systems vary greatly depending on their intended purpose:</a:t>
            </a:r>
            <a:endParaRPr lang="ru-KZ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endParaRPr lang="ru-K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32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587C09E-3435-C805-BE19-5C1175097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879663"/>
              </p:ext>
            </p:extLst>
          </p:nvPr>
        </p:nvGraphicFramePr>
        <p:xfrm>
          <a:off x="459051" y="1337702"/>
          <a:ext cx="10515600" cy="50945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980323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9142235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6244803"/>
                    </a:ext>
                  </a:extLst>
                </a:gridCol>
              </a:tblGrid>
              <a:tr h="5473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Тип устройства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Популярные ОС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Особенности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7723981"/>
                  </a:ext>
                </a:extLst>
              </a:tr>
              <a:tr h="15994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Настольные (ПК и ноутбуки)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Windows, macOS, Linux (Ubuntu, Mint)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Ориентированы на работу с большими экранами, клавиатурой и мышью. Поддерживают сложную многозадачность.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2821896"/>
                  </a:ext>
                </a:extLst>
              </a:tr>
              <a:tr h="1073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Мобильные (Смартфоны, планшеты)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Android, iOS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Оптимизированы под сенсорные экраны, низкое энергопотребление и беспроводные сети.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1052288"/>
                  </a:ext>
                </a:extLst>
              </a:tr>
              <a:tr h="10733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Серверные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>
                          <a:effectLst/>
                        </a:rPr>
                        <a:t>Linux (Ubuntu Server, Debian, Red Hat), Windows Server</a:t>
                      </a:r>
                      <a:endParaRPr lang="ru-KZ" sz="20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ru-KZ" sz="2000" kern="100" dirty="0">
                          <a:effectLst/>
                        </a:rPr>
                        <a:t>Работают без графического интерфейса. Максимально стабильны, управляют базами данных и сайтами.</a:t>
                      </a:r>
                      <a:endParaRPr lang="ru-KZ" sz="20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791417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D58AEA-AD33-DCA6-531D-C4C5FDE2F01E}"/>
              </a:ext>
            </a:extLst>
          </p:cNvPr>
          <p:cNvSpPr txBox="1"/>
          <p:nvPr/>
        </p:nvSpPr>
        <p:spPr>
          <a:xfrm>
            <a:off x="239594" y="425749"/>
            <a:ext cx="115214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KZ" sz="2400" b="1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4. Классификация и примеры современных ОС</a:t>
            </a:r>
            <a:endParaRPr lang="ru-KZ" sz="2400" dirty="0">
              <a:solidFill>
                <a:schemeClr val="accent1">
                  <a:lumMod val="50000"/>
                </a:schemeClr>
              </a:solidFill>
              <a:effectLst/>
              <a:latin typeface="+mn-lt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KZ" sz="2400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Times New Roman" panose="02020603050405020304" pitchFamily="18" charset="0"/>
              </a:rPr>
              <a:t>Операционные системы бывают самыми разными в зависимости от их назначения</a:t>
            </a:r>
            <a:r>
              <a:rPr lang="ru-KZ" sz="1800" dirty="0">
                <a:effectLst/>
                <a:latin typeface="+mn-lt"/>
                <a:ea typeface="Times New Roman" panose="02020603050405020304" pitchFamily="18" charset="0"/>
              </a:rPr>
              <a:t>:</a:t>
            </a:r>
            <a:endParaRPr lang="ru-KZ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1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4E73F2-40F7-537A-BB40-A718FE53A6B5}"/>
              </a:ext>
            </a:extLst>
          </p:cNvPr>
          <p:cNvSpPr txBox="1"/>
          <p:nvPr/>
        </p:nvSpPr>
        <p:spPr>
          <a:xfrm>
            <a:off x="1074964" y="1544870"/>
            <a:ext cx="103317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KZ" sz="2400" b="1" dirty="0">
                <a:solidFill>
                  <a:schemeClr val="accent1">
                    <a:lumMod val="50000"/>
                  </a:schemeClr>
                </a:solidFill>
              </a:rPr>
              <a:t>5. Summary for Developers</a:t>
            </a:r>
            <a:endParaRPr lang="ru-KZ" sz="2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ru-KZ" sz="2400" dirty="0">
                <a:solidFill>
                  <a:schemeClr val="accent1">
                    <a:lumMod val="50000"/>
                  </a:schemeClr>
                </a:solidFill>
              </a:rPr>
              <a:t>Understanding OS internals transforms you from someone who just writes code to someone who understands </a:t>
            </a:r>
            <a:r>
              <a:rPr lang="ru-KZ" sz="2400" i="1" dirty="0">
                <a:solidFill>
                  <a:schemeClr val="accent1">
                    <a:lumMod val="50000"/>
                  </a:schemeClr>
                </a:solidFill>
              </a:rPr>
              <a:t>how code behaves under heavy load</a:t>
            </a:r>
            <a:r>
              <a:rPr lang="ru-KZ" sz="2400" dirty="0">
                <a:solidFill>
                  <a:schemeClr val="accent1">
                    <a:lumMod val="50000"/>
                  </a:schemeClr>
                </a:solidFill>
              </a:rPr>
              <a:t>. When debugging memory leaks, designing multi-threaded systems, or optimizing I/O bottlenecks, the OS is always the final arbiter of your application's performance.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290893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216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Agenda</a:t>
            </a:r>
          </a:p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 и план</a:t>
            </a:r>
            <a:endParaRPr lang="ru-KZ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mobile devices connect via cellular and Wi-Fi networks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560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mobile device synchronization and email configuration methods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337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Android and iOS architectures and user interface models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common mobile hardware features and cloud-enabled services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8920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practice session: scanning open ports on a network host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80960" y="114300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  <p:txBody>
          <a:bodyPr/>
          <a:lstStyle/>
          <a:p>
            <a:endParaRPr lang="ru-KZ" dirty="0"/>
          </a:p>
        </p:txBody>
      </p:sp>
      <p:sp>
        <p:nvSpPr>
          <p:cNvPr id="20" name="Text 18"/>
          <p:cNvSpPr/>
          <p:nvPr/>
        </p:nvSpPr>
        <p:spPr>
          <a:xfrm>
            <a:off x="8229600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2423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bridge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2880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&amp; Wi-Fi networks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3337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Sync, wireless tech, email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37947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0:50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OS: Android vs 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4251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112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features &amp; cloud services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1:25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bridge + lab preview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5166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Q&amp;A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C4F486-F7A0-8F8C-5EA1-A4D333717DA6}"/>
              </a:ext>
            </a:extLst>
          </p:cNvPr>
          <p:cNvSpPr txBox="1"/>
          <p:nvPr/>
        </p:nvSpPr>
        <p:spPr>
          <a:xfrm>
            <a:off x="2951728" y="255246"/>
            <a:ext cx="765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Device Connectivity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FROM WEEKS 1-2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Desktop OS to the Device in Your Pocket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1: </a:t>
            </a: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architecture, processes, registry
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 2: </a:t>
            </a: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shell, file system, server basics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82880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GOING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Windows and Linux run on hosts with a fixed network cable. Mobile operating systems (Android, iOS) must manage connectivity that changes constantly — cellular towers, Wi-Fi access points, Bluetooth peripherals — while protecting battery life and user data.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CONNECTIVITY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Wireless and Cellular Data Networks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Network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(base stations) relay voice &amp; data over licensed radio spectrum; devices hand off between cells as the user moves.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920240"/>
            <a:ext cx="36118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Network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wireless LAN using unlicensed 2.4/5/6 GHz bands; short range, high throughput, no carrier subscription needed.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920240"/>
            <a:ext cx="361188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 / Other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and Wi-Fi are unavailable (remote areas, emergency messaging on modern smartphones).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CONNECTIVITY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Generations: 2G to 5G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2044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-1828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~1990s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352044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 begins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~2000s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352044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4G/LTE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video, VoIP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~2010s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352044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7240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latency, IoT scale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2019+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EA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prompt: </a:t>
            </a: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smartphone automatically switch from 5G to 4G, and then to Wi-Fi, without dropping a call or a data session?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CONNECTIVITY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vs. Cellular Data: Choosing a Path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017520" cy="640080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66160" y="1874520"/>
            <a:ext cx="3977640" cy="640080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03320" y="18745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43800" y="1874520"/>
            <a:ext cx="3977640" cy="640080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0" y="18745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(4G/5G)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66160" y="251460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514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~30-100 m indoors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43800" y="251460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25146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Kilometers (tower-dependent)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01752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566160" y="3154680"/>
            <a:ext cx="397764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31546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flat-rate router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3154680"/>
            <a:ext cx="397764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31546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carrier data plan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66160" y="379476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7947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high, variable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43800" y="379476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7947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more consistent outdoors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301752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566160" y="4434840"/>
            <a:ext cx="397764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4348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AP coverage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543800" y="4434840"/>
            <a:ext cx="3977640" cy="640080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4348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handoff between cells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074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566160" y="507492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5074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for large transfers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543800" y="5074920"/>
            <a:ext cx="39776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0749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when signal is weak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 &amp; WIRELESS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Device Synchronization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keeps contacts, calendars, photos, and app data consistent across a phone, tablet, laptop, and cloud account.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 —  </a:t>
            </a: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Account-based (Google, iCloud) — automatic, works across all signed-in devices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cable sync  —  </a:t>
            </a: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to a computer (iTunes/Finder, Android file transfer)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sync  —  </a:t>
            </a: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sync without cables, often used for backups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sync  —  </a:t>
            </a: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apps (e.g., messaging, notes) sync their own data independently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 &amp; WIRELESS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Short-Range Wireless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headphones, wearables, keyboards. Range ~10 m, low power (BLE for fitness trackers).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Field Communication for contactless payment and quick pairing. Range &lt; 4 cm.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11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945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41248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Direct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Device-to-device Wi-Fi without a router — used for fast file transfer and screen mirroring.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DATA &amp; WIRELESS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Configuration on Mobile Devices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9184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840480" y="1874520"/>
            <a:ext cx="576072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87452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0" y="1874520"/>
            <a:ext cx="1920240" cy="621792"/>
          </a:xfrm>
          <a:prstGeom prst="rect">
            <a:avLst/>
          </a:prstGeom>
          <a:solidFill>
            <a:srgbClr val="065A82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38360" y="18745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Port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963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0" y="2496312"/>
            <a:ext cx="5760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49631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mail synced across devices; messages stay on server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0" y="2496312"/>
            <a:ext cx="1920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0" y="249631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993 (SSL)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29184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1810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40480" y="3118104"/>
            <a:ext cx="576072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311810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mail to one device; often removes from server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0" y="3118104"/>
            <a:ext cx="192024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311810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 (SSL)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39896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3989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840480" y="3739896"/>
            <a:ext cx="576072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373989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outgoing mail from the device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01200" y="3739896"/>
            <a:ext cx="19202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38360" y="373989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 / 465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361688"/>
            <a:ext cx="329184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6168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ActiveSync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840480" y="4361688"/>
            <a:ext cx="576072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436168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sync: mail, calendar, contacts, remote wipe policies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601200" y="4361688"/>
            <a:ext cx="1920240" cy="621792"/>
          </a:xfrm>
          <a:prstGeom prst="rect">
            <a:avLst/>
          </a:prstGeom>
          <a:solidFill>
            <a:srgbClr val="EAF2F6"/>
          </a:solidFill>
          <a:ln w="9525">
            <a:solidFill>
              <a:srgbClr val="D7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38360" y="436168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(HTTPS)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same application-layer protocols covered later in the course (Week 10) — mobile mail apps are simply clients that use them.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MOBILE OPERATING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Mobile Operating System?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OS manages hardware (radios, sensors, touchscreen, battery) and provides the platform on which mobile apps run — the same core role as Windows or Linux, adapted for portable, always-connected, battery-powered devices.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uses a modified Linux kernel; iOS uses Apple's XNU (Darwin) kernel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74320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852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sandboxing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runs isolated, with permissions requested for camera, location, contacts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scheduling of background tasks to preserve battery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AF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270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Touch-first UI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4617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gestures rather than keyboard/mouse input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MOBILE OPERATING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vs. 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(Open Handset Alliance)
</a:t>
            </a: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(AOSP), multiple manufacturers
</a:t>
            </a: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store: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+ alternative stores allowed
</a:t>
            </a: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Customization: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launchers, widgets, file access
</a:t>
            </a:r>
            <a:r>
              <a:rPr lang="en-US" sz="135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range of vendors and price points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
</a:t>
            </a: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Closed-source, single hardware manufacturer
</a:t>
            </a: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App Store only (curated review)
</a:t>
            </a: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consistent UI, tighter restrictions
</a:t>
            </a: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device line-up, tight integration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MOBILE OPERATING SYSTEMS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Mobile Touch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 open an item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20116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306324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Scroll, dismiss, or switch between screens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/ Spread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306324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 or in on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20116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press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306324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contextual menu or start dragging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011680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1945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&amp; drop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81160" y="306324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items between apps or home screens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interfaces also rely on accessibility features (screen readers, larger touch targets, voice control) built into the OS.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FEATURES &amp; CLOUD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Mobile Device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29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services for maps, navigation, geotagging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51960" y="19202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029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/ Gyroscope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4840" y="245059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rotation, motion-based games, step counting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9202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029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sensors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38160" y="245059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and facial recognition for secure unlock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84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system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005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capture; used for QR/barcode and document scanning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51960" y="3474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3584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radio + SIM/eSIM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4005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subscriber to the carrier network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0" y="34747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EA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35844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chip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38160" y="4005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payments and quick device pairing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FEATURES &amp; CLOUD 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Cloud-Enabled Services for Mobile Devices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extend a phone's limited local storage and processing by offloading data and computation to remote servers accessed over the network connections discussed earlier.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backup  — 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iCloud — photos, documents, full device backups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31272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of settings  — 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and preferences restored automatically on a new device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7856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media  — 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Music/video delivered on demand instead of stored locally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4897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4439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apps  — 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(e.g., voice assistants, translation) runs on remote servers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102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My Device  —  </a:t>
            </a: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remote-lock/wipe services hosted in the cloud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PRACTICE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Connection Is an Attack Surface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wireless technology covered today — cellular, Wi-Fi, Bluetooth, NFC, cloud sync — opens a network port or service on the device. Attackers scan for open ports to find services they can exploit.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310896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SESSION PREVIEW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Port Scanner to Detect Open Ports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Packet Tracer network simulation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host, identify open TCP/UDP ports, and map them back to the services from today's lecture (e.g., 443, 587, 995)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submitted through Moodle before the deadline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juggle multiple wireless technologies (cellular, Wi-Fi, Bluetooth, NFC) simultaneously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and email configuration rely on the same protocols used by desktop OSes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46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1280160" y="33009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iOS differ mainly in openness, customization, and app distribution model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5993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599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1280160" y="40142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interfaces and built-in sensors define the mobile user experience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73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1280160" y="47274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 extend limited device storage and compute — and extend the attack surface too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Study &amp; Next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TASK 3 (9 hours)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Device Synchronization
• Passcode Locks
• Mobile Device Software Security
</a:t>
            </a:r>
            <a:r>
              <a:rPr lang="en-US" sz="1400" i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an electronic version (lab write-up) via Moodle.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PREVIEW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514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Today — network components, topologies, and basic switch / end-device configuration in Cisco Packet Tracer.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Q&amp;A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74904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Cisco Networking Academy — Introduction to Networks, "Operating Systems Basics" module
• Ann McIver McHoes — Understanding Operating Systems
• James Kurose — Computer Networking: A Top-Down Approach
• Lecture slides, lms.astanait.edu.kz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OSiKS 2302 — Operating Systems and Computer Networks  |  Week 3: Mobile Device Connectivity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2436</Words>
  <Application>Microsoft Macintosh PowerPoint</Application>
  <PresentationFormat>Широкоэкранный</PresentationFormat>
  <Paragraphs>313</Paragraphs>
  <Slides>24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</vt:lpstr>
      <vt:lpstr>Symbol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Guka Zhol</cp:lastModifiedBy>
  <cp:revision>10</cp:revision>
  <dcterms:created xsi:type="dcterms:W3CDTF">2026-09-13T08:23:43Z</dcterms:created>
  <dcterms:modified xsi:type="dcterms:W3CDTF">2026-09-16T12:28:28Z</dcterms:modified>
</cp:coreProperties>
</file>